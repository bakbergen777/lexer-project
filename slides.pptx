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109728"/>
          </a:xfrm>
          <a:prstGeom prst="rect">
            <a:avLst/>
          </a:prstGeom>
          <a:solidFill>
            <a:srgbClr val="F6C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868680"/>
            <a:ext cx="3108960" cy="411480"/>
          </a:xfrm>
          <a:prstGeom prst="roundRect">
            <a:avLst>
              <a:gd name="adj" fmla="val 50000"/>
            </a:avLst>
          </a:prstGeom>
          <a:solidFill>
            <a:srgbClr val="F6C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8696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COMPILER PRINCIPLES — GROUP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Georgia"/>
              </a:rPr>
              <a:t>Usage of Automatic
Construction Tools for Lexer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CADCFC"/>
                </a:solidFill>
                <a:latin typeface="Calibri Light"/>
              </a:rPr>
              <a:t>Building a C-like lexical analyzer with Flex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206240"/>
            <a:ext cx="6949440" cy="1783080"/>
          </a:xfrm>
          <a:prstGeom prst="roundRect">
            <a:avLst>
              <a:gd name="adj" fmla="val 5000"/>
            </a:avLst>
          </a:prstGeom>
          <a:solidFill>
            <a:srgbClr val="14183D"/>
          </a:solidFill>
          <a:ln w="9525">
            <a:solidFill>
              <a:srgbClr val="F6C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29768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6C94D"/>
                </a:solidFill>
                <a:latin typeface="Calibri"/>
              </a:rPr>
              <a:t>Group members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7091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Bakbergen Amir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47091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ADCFC"/>
                </a:solidFill>
                <a:latin typeface="Consolas"/>
              </a:rPr>
              <a:t>202469990559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0017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Bakbergen Alen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500176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ADCFC"/>
                </a:solidFill>
                <a:latin typeface="Consolas"/>
              </a:rPr>
              <a:t>202469990562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529437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Huang Liu Diego David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529437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ADCFC"/>
                </a:solidFill>
                <a:latin typeface="Consolas"/>
              </a:rPr>
              <a:t>202469990549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58698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Liu Bryan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558698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ADCFC"/>
                </a:solidFill>
                <a:latin typeface="Consolas"/>
              </a:rPr>
              <a:t>202469990275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2062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6C94D"/>
                </a:solidFill>
                <a:latin typeface="Calibri"/>
              </a:rPr>
              <a:t>Tool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52628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Georgia"/>
              </a:rPr>
              <a:t>Flex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534924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fast lexical analyzer
generator (lex successor)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6C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Georgia"/>
              </a:rPr>
              <a:t>Problem &amp; objectives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960120"/>
            <a:ext cx="164592" cy="164592"/>
          </a:xfrm>
          <a:prstGeom prst="ellipse">
            <a:avLst/>
          </a:prstGeom>
          <a:solidFill>
            <a:srgbClr val="F6C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E7391"/>
                </a:solidFill>
                <a:latin typeface="Calibri"/>
              </a:rPr>
              <a:t>Compiler Principles  ·  Automatic Construction Tools for Lexer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E7391"/>
                </a:solidFill>
                <a:latin typeface="Calibri"/>
              </a:rPr>
              <a:t>2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Calibri"/>
              </a:rPr>
              <a:t>What we set out to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640080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4183D"/>
                </a:solidFill>
                <a:latin typeface="Calibri"/>
              </a:rPr>
              <a:t>•  Build a working lexical analyzer for a C-like subset.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4183D"/>
                </a:solidFill>
                <a:latin typeface="Calibri"/>
              </a:rPr>
              <a:t>•  Use an automatic construction tool — Flex — instead of hand-coding the DFA.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4183D"/>
                </a:solidFill>
                <a:latin typeface="Calibri"/>
              </a:rPr>
              <a:t>•  Recognise keywords, identifiers, integer / float / string / char constants, single-/multi-line comments, and 30+ operator and punctuation symbols.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4183D"/>
                </a:solidFill>
                <a:latin typeface="Calibri"/>
              </a:rPr>
              <a:t>•  Track line and column for every token and report lexical errors with location.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4183D"/>
                </a:solidFill>
                <a:latin typeface="Calibri"/>
              </a:rPr>
              <a:t>•  Validate the scanner on a real-looking C-like test program.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463040"/>
            <a:ext cx="3840480" cy="420624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16002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Why automatic construction?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011680"/>
            <a:ext cx="3474720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4183D"/>
                </a:solidFill>
                <a:latin typeface="Calibri"/>
              </a:rPr>
              <a:t>•  Specification reads as the language definition.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4183D"/>
                </a:solidFill>
                <a:latin typeface="Calibri"/>
              </a:rPr>
              <a:t>•  Generator produces a deterministic finite automaton.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4183D"/>
                </a:solidFill>
                <a:latin typeface="Calibri"/>
              </a:rPr>
              <a:t>•  Far fewer bugs than a hand-rolled scanner.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4183D"/>
                </a:solidFill>
                <a:latin typeface="Calibri"/>
              </a:rPr>
              <a:t>•  Easy to extend — add a regex, recompile.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6C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Georgia"/>
              </a:rPr>
              <a:t>What is Flex?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960120"/>
            <a:ext cx="164592" cy="164592"/>
          </a:xfrm>
          <a:prstGeom prst="ellipse">
            <a:avLst/>
          </a:prstGeom>
          <a:solidFill>
            <a:srgbClr val="F6C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E7391"/>
                </a:solidFill>
                <a:latin typeface="Calibri"/>
              </a:rPr>
              <a:t>Compiler Principles  ·  Automatic Construction Tools for Lexer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E7391"/>
                </a:solidFill>
                <a:latin typeface="Calibri"/>
              </a:rPr>
              <a:t>3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E2761"/>
                </a:solidFill>
                <a:latin typeface="Calibri"/>
              </a:rPr>
              <a:t>Fast Lexical Analyzer Generator — open-source descendant of AT&amp;T lex.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68880"/>
            <a:ext cx="1828800" cy="640080"/>
          </a:xfrm>
          <a:prstGeom prst="roundRect">
            <a:avLst>
              <a:gd name="adj" fmla="val 45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lexer.l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06040" y="2606040"/>
            <a:ext cx="548640" cy="365760"/>
          </a:xfrm>
          <a:prstGeom prst="rightArrow">
            <a:avLst/>
          </a:prstGeom>
          <a:solidFill>
            <a:srgbClr val="F6C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91840" y="2468880"/>
            <a:ext cx="1828800" cy="640080"/>
          </a:xfrm>
          <a:prstGeom prst="roundRect">
            <a:avLst>
              <a:gd name="adj" fmla="val 45000"/>
            </a:avLst>
          </a:prstGeom>
          <a:solidFill>
            <a:srgbClr val="F6C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1E2761"/>
                </a:solidFill>
                <a:latin typeface="Consolas"/>
              </a:rPr>
              <a:t>flex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257800" y="2606040"/>
            <a:ext cx="548640" cy="365760"/>
          </a:xfrm>
          <a:prstGeom prst="rightArrow">
            <a:avLst/>
          </a:prstGeom>
          <a:solidFill>
            <a:srgbClr val="F6C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0" y="2468880"/>
            <a:ext cx="1828800" cy="640080"/>
          </a:xfrm>
          <a:prstGeom prst="roundRect">
            <a:avLst>
              <a:gd name="adj" fmla="val 45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lex.yy.c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909560" y="2606040"/>
            <a:ext cx="548640" cy="365760"/>
          </a:xfrm>
          <a:prstGeom prst="rightArrow">
            <a:avLst/>
          </a:prstGeom>
          <a:solidFill>
            <a:srgbClr val="F6C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95360" y="2468880"/>
            <a:ext cx="1828800" cy="640080"/>
          </a:xfrm>
          <a:prstGeom prst="roundRect">
            <a:avLst>
              <a:gd name="adj" fmla="val 45000"/>
            </a:avLst>
          </a:prstGeom>
          <a:solidFill>
            <a:srgbClr val="F6C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1E2761"/>
                </a:solidFill>
                <a:latin typeface="Consolas"/>
              </a:rPr>
              <a:t>gcc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0561320" y="2606040"/>
            <a:ext cx="548640" cy="365760"/>
          </a:xfrm>
          <a:prstGeom prst="rightArrow">
            <a:avLst/>
          </a:prstGeom>
          <a:solidFill>
            <a:srgbClr val="F6C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1247120" y="2468880"/>
            <a:ext cx="868680" cy="640080"/>
          </a:xfrm>
          <a:prstGeom prst="roundRect">
            <a:avLst>
              <a:gd name="adj" fmla="val 45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lexer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246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E7391"/>
                </a:solidFill>
                <a:latin typeface="Calibri"/>
              </a:rPr>
              <a:t>specification     →    generator    →    C source     →    compile     →   binary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9319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Calibri"/>
              </a:rPr>
              <a:t>What Flex actually generates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89120"/>
            <a:ext cx="1088136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4183D"/>
                </a:solidFill>
                <a:latin typeface="Calibri"/>
              </a:rPr>
              <a:t>•  An NFA from each rule's regex, then the equivalent DFA, then a compressed transition table.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4183D"/>
                </a:solidFill>
                <a:latin typeface="Calibri"/>
              </a:rPr>
              <a:t>•  A C function yylex() that walks that table — picking the longest match, breaking ties by rule order.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4183D"/>
                </a:solidFill>
                <a:latin typeface="Calibri"/>
              </a:rPr>
              <a:t>•  Hooks for line tracking (yylineno) and the matched lexeme (yytext, yyleng).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6C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Georgia"/>
              </a:rPr>
              <a:t>Token categories recognised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960120"/>
            <a:ext cx="164592" cy="164592"/>
          </a:xfrm>
          <a:prstGeom prst="ellipse">
            <a:avLst/>
          </a:prstGeom>
          <a:solidFill>
            <a:srgbClr val="F6C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E7391"/>
                </a:solidFill>
                <a:latin typeface="Calibri"/>
              </a:rPr>
              <a:t>Compiler Principles  ·  Automatic Construction Tools for Lexer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E7391"/>
                </a:solidFill>
                <a:latin typeface="Calibri"/>
              </a:rPr>
              <a:t>4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3657600" cy="141732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587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" y="1554480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554480"/>
            <a:ext cx="13258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KEYWORD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1920240"/>
            <a:ext cx="325526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4183D"/>
                </a:solidFill>
                <a:latin typeface="Consolas"/>
              </a:rPr>
              <a:t>if else while for do return
int float char void const struct 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1417320"/>
            <a:ext cx="3657600" cy="141732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5875">
            <a:solidFill>
              <a:srgbClr val="F6C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26864" y="1554480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F6C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1554480"/>
            <a:ext cx="13258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IDENT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1920240"/>
            <a:ext cx="325526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4183D"/>
                </a:solidFill>
                <a:latin typeface="Consolas"/>
              </a:rPr>
              <a:t>[A-Za-z_][A-Za-z0-9_]*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84464" y="1417320"/>
            <a:ext cx="3657600" cy="141732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587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49056" y="1554480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9056" y="1554480"/>
            <a:ext cx="13258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INT_CONST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1920240"/>
            <a:ext cx="325526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4183D"/>
                </a:solidFill>
                <a:latin typeface="Consolas"/>
              </a:rPr>
              <a:t>[0-9]+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999232"/>
            <a:ext cx="3657600" cy="141732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5875">
            <a:solidFill>
              <a:srgbClr val="F6C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" y="3136392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F6C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136392"/>
            <a:ext cx="13258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FLT_CONST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3502152"/>
            <a:ext cx="325526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4183D"/>
                </a:solidFill>
                <a:latin typeface="Consolas"/>
              </a:rPr>
              <a:t>[0-9]+.[0-9]+([eE][+-]?[0-9]+)?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62272" y="2999232"/>
            <a:ext cx="3657600" cy="141732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587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626864" y="3136392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26864" y="3136392"/>
            <a:ext cx="13258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STR_CONST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502152"/>
            <a:ext cx="325526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4183D"/>
                </a:solidFill>
                <a:latin typeface="Consolas"/>
              </a:rPr>
              <a:t>"..."  with escapes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84464" y="2999232"/>
            <a:ext cx="3657600" cy="141732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5875">
            <a:solidFill>
              <a:srgbClr val="F6C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449056" y="3136392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F6C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49056" y="3136392"/>
            <a:ext cx="13258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CHR_CONST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85632" y="3502152"/>
            <a:ext cx="325526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4183D"/>
                </a:solidFill>
                <a:latin typeface="Consolas"/>
              </a:rPr>
              <a:t>'.'   with escapes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581144"/>
            <a:ext cx="3657600" cy="141732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587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04672" y="4718304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4718304"/>
            <a:ext cx="13258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OPERATOR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" y="5084064"/>
            <a:ext cx="325526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4183D"/>
                </a:solidFill>
                <a:latin typeface="Consolas"/>
              </a:rPr>
              <a:t>+ - * / %  =  &lt; &gt;  ! &amp; | ^ ~
== != &lt;= &gt;= &amp;&amp; || ++ -- += -= *= /= -&gt;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62272" y="4581144"/>
            <a:ext cx="3657600" cy="141732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5875">
            <a:solidFill>
              <a:srgbClr val="F6C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626864" y="4718304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F6C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26864" y="4718304"/>
            <a:ext cx="13258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PUNCT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5084064"/>
            <a:ext cx="325526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4183D"/>
                </a:solidFill>
                <a:latin typeface="Consolas"/>
              </a:rPr>
              <a:t>( ) { } [ ] ; , . : ? #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84464" y="4581144"/>
            <a:ext cx="3657600" cy="141732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587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449056" y="4718304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49056" y="4718304"/>
            <a:ext cx="13258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COMMENT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85632" y="5084064"/>
            <a:ext cx="325526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4183D"/>
                </a:solidFill>
                <a:latin typeface="Consolas"/>
              </a:rPr>
              <a:t>// line comment
/* block comment */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6C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Georgia"/>
              </a:rPr>
              <a:t>Source code — lexer.l (highlights)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960120"/>
            <a:ext cx="164592" cy="164592"/>
          </a:xfrm>
          <a:prstGeom prst="ellipse">
            <a:avLst/>
          </a:prstGeom>
          <a:solidFill>
            <a:srgbClr val="F6C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E7391"/>
                </a:solidFill>
                <a:latin typeface="Calibri"/>
              </a:rPr>
              <a:t>Compiler Principles  ·  Automatic Construction Tools for Lexer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E7391"/>
                </a:solidFill>
                <a:latin typeface="Calibri"/>
              </a:rPr>
              <a:t>5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25880"/>
            <a:ext cx="10972800" cy="4526280"/>
          </a:xfrm>
          <a:prstGeom prst="roundRect">
            <a:avLst>
              <a:gd name="adj" fmla="val 4000"/>
            </a:avLst>
          </a:prstGeom>
          <a:solidFill>
            <a:srgbClr val="141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435608"/>
            <a:ext cx="10643616" cy="4306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%option noyywrap yylineno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DIGIT       [0-9]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LETTER      [a-zA-Z_]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ID          {LETTER}({LETTER}|{DIGIT})*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INT         {DIGIT}+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FLOAT       {DIGIT}+"."{DIGIT}+([eE][+-]?{DIGIT}+)?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STRING      \"([^\"\\\n]|\\.)*\"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LCOMMENT    "//"[^\n]*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BCOMMENT    "/*"([^*]|\*+[^*/])*\*+"/"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%%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"if"|"else"|"while"|"for"|"return"|"int"|"float"|...   { emit(KEYWORD , yytext); }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"=="|"!="|"&lt;="|"&gt;="|"&amp;&amp;"|"||"|"++"|"--"|"+="|"-&gt;"     { emit(OPERATOR, yytext); }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[+\-*/%=&lt;&gt;!&amp;|^~]                                       { emit(OPERATOR, yytext); }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[(){}\[\];,.:?#]                                      { emit(PUNCT   , yytext); }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{FLOAT}                                                 { emit(FLT_CONST, yytext); }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{INT}                                                   { emit(INT_CONST, yytext); }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{STRING}                                                { emit(STR_CONST, yytext); }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{ID}                                                    { emit(IDENT   , yytext); }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{LCOMMENT}|{BCOMMENT}                                   { emit(COMMENT , "..."); }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[ \t]+ | \r?\n                                        { /* skip */ }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.                                                       { error(yytext); }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%%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893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E7391"/>
                </a:solidFill>
                <a:latin typeface="Calibri"/>
              </a:rPr>
              <a:t>Multi-character operators precede single-character ones — Flex's longest-match rule keeps '&lt;=' from being scanned as '&lt;' followed by '='.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6C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Georgia"/>
              </a:rPr>
              <a:t>Test program — test.c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960120"/>
            <a:ext cx="164592" cy="164592"/>
          </a:xfrm>
          <a:prstGeom prst="ellipse">
            <a:avLst/>
          </a:prstGeom>
          <a:solidFill>
            <a:srgbClr val="F6C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E7391"/>
                </a:solidFill>
                <a:latin typeface="Calibri"/>
              </a:rPr>
              <a:t>Compiler Principles  ·  Automatic Construction Tools for Lexer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E7391"/>
                </a:solidFill>
                <a:latin typeface="Calibri"/>
              </a:rPr>
              <a:t>6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25880"/>
            <a:ext cx="6949440" cy="4937760"/>
          </a:xfrm>
          <a:prstGeom prst="roundRect">
            <a:avLst>
              <a:gd name="adj" fmla="val 4000"/>
            </a:avLst>
          </a:prstGeom>
          <a:solidFill>
            <a:srgbClr val="141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435608"/>
            <a:ext cx="6620256" cy="4718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#include &lt;stdio.h&gt;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// compute factorial of n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int factorial(int n) {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    if (n &lt;= 1) return 1;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    return n * factorial(n - 1);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float average(int a, int b) {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    /* multi-line comment */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    return (a + b) / 2.0;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int main(void) {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    int   x  = 42;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    float pi = 3.14159;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    char  c  = 'A';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    const char *msg = "Hello, Compiler!";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    for (int i = 0; i &lt; 5; i++) x += factorial(i);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    if (x &gt;= 100 &amp;&amp; pi != 0.0)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        printf("%s x=%d\n", msg, x);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    return 0;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int bad@token = 0;   // deliberate error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3258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What this exercises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691640"/>
            <a:ext cx="384048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4183D"/>
                </a:solidFill>
                <a:latin typeface="Calibri"/>
              </a:rPr>
              <a:t>•  preprocessor # and &lt; &gt;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4183D"/>
                </a:solidFill>
                <a:latin typeface="Calibri"/>
              </a:rPr>
              <a:t>•  // and /* … */ comments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4183D"/>
                </a:solidFill>
                <a:latin typeface="Calibri"/>
              </a:rPr>
              <a:t>•  keywords: int float char void const for if return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4183D"/>
                </a:solidFill>
                <a:latin typeface="Calibri"/>
              </a:rPr>
              <a:t>•  identifiers and function calls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4183D"/>
                </a:solidFill>
                <a:latin typeface="Calibri"/>
              </a:rPr>
              <a:t>•  integer + float literals (incl. 2.0, 3.14159)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4183D"/>
                </a:solidFill>
                <a:latin typeface="Calibri"/>
              </a:rPr>
              <a:t>•  char literal 'A' and string literal "…"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4183D"/>
                </a:solidFill>
                <a:latin typeface="Calibri"/>
              </a:rPr>
              <a:t>•  all multi-char ops: &lt;= &gt;= != &amp;&amp; ++ +=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4183D"/>
                </a:solidFill>
                <a:latin typeface="Calibri"/>
              </a:rPr>
              <a:t>•  deliberate '@' to test error reporting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6C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Georgia"/>
              </a:rPr>
              <a:t>Demo — token stream (first half)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960120"/>
            <a:ext cx="164592" cy="164592"/>
          </a:xfrm>
          <a:prstGeom prst="ellipse">
            <a:avLst/>
          </a:prstGeom>
          <a:solidFill>
            <a:srgbClr val="F6C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E7391"/>
                </a:solidFill>
                <a:latin typeface="Calibri"/>
              </a:rPr>
              <a:t>Compiler Principles  ·  Automatic Construction Tools for Lexer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E7391"/>
                </a:solidFill>
                <a:latin typeface="Calibri"/>
              </a:rPr>
              <a:t>7 / 10</a:t>
            </a:r>
          </a:p>
        </p:txBody>
      </p:sp>
      <p:pic>
        <p:nvPicPr>
          <p:cNvPr id="9" name="Picture 8" descr="01-lexer-output-p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17320"/>
            <a:ext cx="7589520" cy="46287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E7391"/>
                </a:solidFill>
                <a:latin typeface="Calibri"/>
              </a:rPr>
              <a:t>Each row prints  line:column  category  lexeme  — exactly as the Flex spec emits. Tokens flow left-to-right across columns.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6C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Georgia"/>
              </a:rPr>
              <a:t>Demo — final tokens, error, and summary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960120"/>
            <a:ext cx="164592" cy="164592"/>
          </a:xfrm>
          <a:prstGeom prst="ellipse">
            <a:avLst/>
          </a:prstGeom>
          <a:solidFill>
            <a:srgbClr val="F6C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E7391"/>
                </a:solidFill>
                <a:latin typeface="Calibri"/>
              </a:rPr>
              <a:t>Compiler Principles  ·  Automatic Construction Tools for Lexer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E7391"/>
                </a:solidFill>
                <a:latin typeface="Calibri"/>
              </a:rPr>
              <a:t>8 / 10</a:t>
            </a:r>
          </a:p>
        </p:txBody>
      </p:sp>
      <p:pic>
        <p:nvPicPr>
          <p:cNvPr id="9" name="Picture 8" descr="02-lexer-output-p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508760"/>
            <a:ext cx="9235440" cy="463482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E7391"/>
                </a:solidFill>
                <a:latin typeface="Calibri"/>
              </a:rPr>
              <a:t>The deliberate '@' is reported with line/column; the scanner recovers and tokenises the rest of the file.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6C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Georgia"/>
              </a:rPr>
              <a:t>Build, run, and portable verification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960120"/>
            <a:ext cx="164592" cy="164592"/>
          </a:xfrm>
          <a:prstGeom prst="ellipse">
            <a:avLst/>
          </a:prstGeom>
          <a:solidFill>
            <a:srgbClr val="F6C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E7391"/>
                </a:solidFill>
                <a:latin typeface="Calibri"/>
              </a:rPr>
              <a:t>Compiler Principles  ·  Automatic Construction Tools for Lexer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E7391"/>
                </a:solidFill>
                <a:latin typeface="Calibri"/>
              </a:rPr>
              <a:t>9 / 10</a:t>
            </a:r>
          </a:p>
        </p:txBody>
      </p:sp>
      <p:pic>
        <p:nvPicPr>
          <p:cNvPr id="9" name="Picture 8" descr="03-build-and-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949440" cy="267119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72400" y="1325880"/>
            <a:ext cx="3840480" cy="493776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9525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14630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How to build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828800"/>
            <a:ext cx="3566160" cy="1463040"/>
          </a:xfrm>
          <a:prstGeom prst="roundRect">
            <a:avLst>
              <a:gd name="adj" fmla="val 4000"/>
            </a:avLst>
          </a:prstGeom>
          <a:solidFill>
            <a:srgbClr val="141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1" y="1938528"/>
            <a:ext cx="3236976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flex lexer.l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gcc  lex.yy.c -o lexer -lfl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./lexer test.c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# or just: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make 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38328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Portable runner (Python)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3749039"/>
            <a:ext cx="3566160" cy="914400"/>
          </a:xfrm>
          <a:prstGeom prst="roundRect">
            <a:avLst>
              <a:gd name="adj" fmla="val 4000"/>
            </a:avLst>
          </a:prstGeom>
          <a:solidFill>
            <a:srgbClr val="141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9871" y="3858767"/>
            <a:ext cx="3236976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>
                <a:solidFill>
                  <a:srgbClr val="CADCFC"/>
                </a:solidFill>
                <a:latin typeface="Consolas"/>
              </a:rPr>
              <a:t>python3 lexer_demo.py test.c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4800600"/>
            <a:ext cx="3566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E7391"/>
                </a:solidFill>
                <a:latin typeface="Calibri"/>
              </a:rPr>
              <a:t>Same regex spec, identical token stream — for graders without a C toolchain.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6C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Georgia"/>
              </a:rPr>
              <a:t>Results &amp; conclusion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960120"/>
            <a:ext cx="164592" cy="164592"/>
          </a:xfrm>
          <a:prstGeom prst="ellipse">
            <a:avLst/>
          </a:prstGeom>
          <a:solidFill>
            <a:srgbClr val="F6C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E7391"/>
                </a:solidFill>
                <a:latin typeface="Calibri"/>
              </a:rPr>
              <a:t>Compiler Principles  ·  Automatic Construction Tools for Lexer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E7391"/>
                </a:solidFill>
                <a:latin typeface="Calibri"/>
              </a:rPr>
              <a:t>10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71600"/>
            <a:ext cx="2194560" cy="137160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1E2761"/>
                </a:solidFill>
                <a:latin typeface="Georgia"/>
              </a:rPr>
              <a:t>155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4028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E7391"/>
                </a:solidFill>
                <a:latin typeface="Calibri"/>
              </a:rPr>
              <a:t>tokens recognised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1371600"/>
            <a:ext cx="2194560" cy="137160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9050">
            <a:solidFill>
              <a:srgbClr val="F6C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1463040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F6C94D"/>
                </a:solidFill>
                <a:latin typeface="Georgia"/>
              </a:rPr>
              <a:t>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24028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E7391"/>
                </a:solidFill>
                <a:latin typeface="Calibri"/>
              </a:rPr>
              <a:t>keywords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1371600"/>
            <a:ext cx="2194560" cy="137160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463040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1E2761"/>
                </a:solidFill>
                <a:latin typeface="Georgia"/>
              </a:rPr>
              <a:t>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24028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E7391"/>
                </a:solidFill>
                <a:latin typeface="Calibri"/>
              </a:rPr>
              <a:t>identifiers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1371600"/>
            <a:ext cx="2194560" cy="137160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9050">
            <a:solidFill>
              <a:srgbClr val="F6C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20" y="1463040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F6C94D"/>
                </a:solidFill>
                <a:latin typeface="Georgia"/>
              </a:rPr>
              <a:t>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224028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E7391"/>
                </a:solidFill>
                <a:latin typeface="Calibri"/>
              </a:rPr>
              <a:t>numeric literals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1371600"/>
            <a:ext cx="2194560" cy="137160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1463040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1E2761"/>
                </a:solidFill>
                <a:latin typeface="Georgia"/>
              </a:rPr>
              <a:t>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24028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E7391"/>
                </a:solidFill>
                <a:latin typeface="Calibri"/>
              </a:rPr>
              <a:t>operators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2926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6C94D"/>
                </a:solidFill>
                <a:latin typeface="Calibri"/>
              </a:rPr>
              <a:t>+ 1 deliberate lexical error correctly reported at line 38, column 8.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20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Calibri"/>
              </a:rPr>
              <a:t>Takeaways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977639"/>
            <a:ext cx="1097280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4183D"/>
                </a:solidFill>
                <a:latin typeface="Calibri"/>
              </a:rPr>
              <a:t>•  Flex lets us specify the lexer at the language level (regular expressions) and trust the generator for the DFA.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4183D"/>
                </a:solidFill>
                <a:latin typeface="Calibri"/>
              </a:rPr>
              <a:t>•  Longest-match plus rule ordering correctly disambiguates keywords vs identifiers and multi-char vs single-char operators.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4183D"/>
                </a:solidFill>
                <a:latin typeface="Calibri"/>
              </a:rPr>
              <a:t>•  Line/column tracking and error recovery come essentially for free once the spec is correct.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4183D"/>
                </a:solidFill>
                <a:latin typeface="Calibri"/>
              </a:rPr>
              <a:t>•  The same regex spec ported to Python (lexer_demo.py) produces an identical token stream — a useful regression check.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0" y="5897880"/>
            <a:ext cx="4846320" cy="411480"/>
          </a:xfrm>
          <a:prstGeom prst="roundRect">
            <a:avLst>
              <a:gd name="adj" fmla="val 45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589788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Thank you  ·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